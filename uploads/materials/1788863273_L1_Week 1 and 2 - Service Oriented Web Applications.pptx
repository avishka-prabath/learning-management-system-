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5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DF1"/>
    <a:srgbClr val="024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334922-0D12-D8B8-29B6-5D7D80F5E9CE}" v="2" dt="2023-09-11T08:50:01.225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DB0CF-7AFB-4ACD-B98E-49BA5CC3A0D6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448E9-1C5E-40DF-84E7-83B8CC06F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1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8643-1976-3195-D631-305A26F75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E7EA6-512D-4A22-31F5-F494171F0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F8ECE-4F17-0A3C-B312-0F97A8C2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EB7C1-A092-4944-8BC0-A62764C663C7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98099-3A87-3E1F-43B3-CC83F343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9808-228A-0A23-FCE2-7CD76E18A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07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2CB5-4EE5-80B3-2B00-F61BE5EA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D606E-E82E-0177-2C49-749EB43B8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9DBF0-7935-72A0-BEF9-0360E5D1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C8393-40BD-426A-B651-658BAEA6D1ED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DDE98-B0B1-98F8-9DD7-5E8E07813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43398-C945-AEC9-A5BA-39F651D8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0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3580-B4E4-F8C9-C35C-7121A8EC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7012-EE05-3B60-0D49-E408796E7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3C25C-CA01-5290-E7A8-8E24CEA1E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F8AE-8D22-46A0-811C-800B7DF0A5DB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7F600-4976-59CC-E00E-ECC1CD43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F32D1-BB6F-CD8D-26BF-FB870BDB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0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E1299-27D9-C74B-C475-71A2B9C2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70A33-86B9-9B41-693C-96035D85E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05199-A0EC-1B71-3747-47FAE92EA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464F1-EE25-55AA-3CA1-FC752D17C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2D76-7E2F-4815-A1D2-9A4CBEBF683A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E8164-D8C3-94D8-D802-5F35F358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C660A-A656-317B-611B-E7630617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7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A6D4-FABB-EB62-3B95-BE72A90C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F697A-835A-0A5A-D017-5089A19CD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BFA17-2022-10A9-3384-8B04850E7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FED06-B94A-BABB-4913-315CB1AE9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E1FA0-1742-87C9-925A-0FF0C4548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3080A-BDDE-6F31-B74E-3A4665FF7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5C2C3-2C74-4429-B02A-D41820BAE24C}" type="datetime1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C4858-1465-13F6-04C8-7ED7BD8A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56349-EA86-7388-89A6-4C3F5363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1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744D-17E7-F9FE-546A-F3795CBA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CCA08-C1C8-6505-AF9A-80B26252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AA33-2D8F-415D-8409-84B28C411CF4}" type="datetime1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D11A5-75E0-94D6-5847-194EE2F5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735D1-CE92-0DB8-B938-7C17A283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6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E425D-B248-928C-120B-F3A7E4393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10C-08CC-4420-A58C-6585C5CB04E7}" type="datetime1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C4AF3-16B0-E49D-38FE-60742C6F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3352F-FAF5-F9D5-2EAF-127138F1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7782A-BDC1-065C-79ED-06C796AA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B98E4-B0C5-A8A2-9F53-C07F320BA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08345-764A-41E4-16A5-DBA1B0B8B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57E32-7079-50B7-A5FC-B281B3BF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3A309-8BC0-4BA3-92DD-730C990C5737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9927A-C60F-1AB4-3704-EBB75FD4F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8DAA4-9B40-C7BA-6445-0500F0A3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0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D9F0-A8A6-6A4E-6DEF-4CA149CA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F47053-CCB6-FE75-3F54-F7E2EFF42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370F5-479E-4FE7-BBE9-B4B4CC7F3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D75DD-AD0B-A74A-02D1-AE31FCF6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E7094-3C65-4546-A09E-B7A99A9FFA36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54D83-C5EF-E3FB-15D7-D158E25C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93F6A-B734-0C8F-DCB2-CEBFC228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0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926B-818A-36BE-2FB4-D6F828B5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97979-D80B-B326-B81D-34EAEEA0A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6F9EE-0BFF-B4D1-1F28-49033D5F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EA238-AEA4-46FD-9CE8-7CECD42844AC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3143C-A2DD-7525-0FB1-CB423957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70EA7-653D-846B-5AF7-3C44C5F05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85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1030C-8ADD-93D3-EE90-2A124DD00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5BD1E-BD32-A416-C41B-FA782352B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C445D-33D0-2964-161E-45025939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AD6E-3EA4-4869-865D-6109A6119D77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EE533-F4A3-88AE-CB78-D6E430B9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01DDD-6B33-89C9-9EBA-65DA0BDA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79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F5E2E-770E-4A0B-CBAE-36C3BD7B4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38411-B5C1-E90F-63FB-F528D17E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34030-58FE-05DA-FC91-E40023E5D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618FA-97B4-48AE-A731-E7B7BEB1897C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37CD6-A447-4AC9-6C3B-0621282A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3033D-8CD1-F141-4863-839664BFE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7EBBF-3571-4FE6-8853-E83B5A3F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7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04AF-96D6-C518-16B1-C2A73460D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9024"/>
            <a:ext cx="9144000" cy="2387600"/>
          </a:xfrm>
        </p:spPr>
        <p:txBody>
          <a:bodyPr>
            <a:noAutofit/>
          </a:bodyPr>
          <a:lstStyle/>
          <a:p>
            <a:r>
              <a:rPr lang="en-US" sz="4800" b="1" dirty="0"/>
              <a:t>Service Oriented Web </a:t>
            </a:r>
            <a:r>
              <a:rPr lang="en-US" sz="4800" b="1" dirty="0" smtClean="0"/>
              <a:t>Applications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b="1" dirty="0"/>
              <a:t>(CS_SE_IT 2210</a:t>
            </a:r>
            <a:r>
              <a:rPr lang="en-US" sz="4000" b="1" dirty="0" smtClean="0"/>
              <a:t>)</a:t>
            </a:r>
            <a:br>
              <a:rPr lang="en-US" sz="4000" b="1" dirty="0" smtClean="0"/>
            </a:br>
            <a:r>
              <a:rPr lang="en-US" sz="4000" b="1" dirty="0" smtClean="0"/>
              <a:t>Lesson 1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2800" dirty="0" smtClean="0"/>
              <a:t>18 – March - 25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CD8D3-CCA6-90D5-A255-248961F6C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Bachelor of  Information Technology</a:t>
            </a:r>
          </a:p>
          <a:p>
            <a:r>
              <a:rPr lang="en-US" dirty="0"/>
              <a:t>Department of Computing</a:t>
            </a:r>
          </a:p>
          <a:p>
            <a:r>
              <a:rPr lang="en-US" dirty="0"/>
              <a:t>Faculty of Computing and Technology</a:t>
            </a:r>
          </a:p>
          <a:p>
            <a:r>
              <a:rPr lang="en-US" dirty="0"/>
              <a:t>Saegis Campus</a:t>
            </a:r>
          </a:p>
          <a:p>
            <a:r>
              <a:rPr lang="en-US" dirty="0"/>
              <a:t>Nugegoda</a:t>
            </a:r>
          </a:p>
          <a:p>
            <a:endParaRPr lang="en-US" dirty="0"/>
          </a:p>
        </p:txBody>
      </p:sp>
      <p:pic>
        <p:nvPicPr>
          <p:cNvPr id="1026" name="Picture 2" descr="Saegis Campus (Fees &amp; Reviews): Colombo, Sri Lanka">
            <a:extLst>
              <a:ext uri="{FF2B5EF4-FFF2-40B4-BE49-F238E27FC236}">
                <a16:creationId xmlns:a16="http://schemas.microsoft.com/office/drawing/2014/main" id="{690AABFE-CDAE-4B84-48E1-6D9618AF3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7155" y="4161527"/>
            <a:ext cx="2167145" cy="216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828D8B-4A5E-912C-E843-58E491EC7050}"/>
              </a:ext>
            </a:extLst>
          </p:cNvPr>
          <p:cNvCxnSpPr/>
          <p:nvPr/>
        </p:nvCxnSpPr>
        <p:spPr>
          <a:xfrm>
            <a:off x="669235" y="3190461"/>
            <a:ext cx="1085353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F79F92E-5F58-9194-9566-0FC3EB52EF30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60AFE8-7A5F-009B-5DF7-FE424A5BE969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39E22-D08D-450E-9629-039039FD88E2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7CA78E-A496-4E02-8557-18E7EFD2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568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Introduction </a:t>
            </a:r>
            <a:r>
              <a:rPr lang="en-US" b="1" dirty="0"/>
              <a:t>to Service-Oriented Programming and Web Services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Learning Objectives</a:t>
            </a:r>
          </a:p>
          <a:p>
            <a:r>
              <a:rPr lang="en-US" dirty="0"/>
              <a:t>Understand the concept of service-oriented programming.</a:t>
            </a:r>
          </a:p>
          <a:p>
            <a:r>
              <a:rPr lang="en-US" dirty="0"/>
              <a:t>Define web services and their types.</a:t>
            </a:r>
          </a:p>
          <a:p>
            <a:r>
              <a:rPr lang="en-US" dirty="0"/>
              <a:t>Explain the role of service-oriented architecture (SOA).</a:t>
            </a:r>
          </a:p>
          <a:p>
            <a:r>
              <a:rPr lang="en-US" dirty="0"/>
              <a:t>Identify key technologies behind web services.</a:t>
            </a:r>
          </a:p>
          <a:p>
            <a:r>
              <a:rPr lang="en-US" dirty="0"/>
              <a:t>Differentiate between SOAP and RESTful web services.</a:t>
            </a:r>
          </a:p>
          <a:p>
            <a:r>
              <a:rPr lang="en-US" dirty="0"/>
              <a:t>Explore real-world applications of web services.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77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/>
            </a:r>
            <a:br>
              <a:rPr lang="en-US" b="1" smtClean="0"/>
            </a:br>
            <a:r>
              <a:rPr lang="en-US" b="1" smtClean="0"/>
              <a:t>Introduction to Service-Oriented Programming</a:t>
            </a:r>
            <a:br>
              <a:rPr lang="en-US" b="1" smtClean="0"/>
            </a:br>
            <a:r>
              <a:rPr lang="en-US" smtClean="0"/>
              <a:t/>
            </a:r>
            <a:br>
              <a:rPr lang="en-US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Service-Oriented Programming (SOP) focuses on building reusable software components.</a:t>
            </a:r>
          </a:p>
          <a:p>
            <a:r>
              <a:rPr lang="en-US" dirty="0"/>
              <a:t>These components, called </a:t>
            </a:r>
            <a:r>
              <a:rPr lang="en-US" b="1" dirty="0"/>
              <a:t>services</a:t>
            </a:r>
            <a:r>
              <a:rPr lang="en-US" dirty="0"/>
              <a:t>, interact through well-defined interfaces.</a:t>
            </a:r>
          </a:p>
          <a:p>
            <a:r>
              <a:rPr lang="en-US" dirty="0"/>
              <a:t>Services are independent and loosely coupled.</a:t>
            </a:r>
          </a:p>
          <a:p>
            <a:r>
              <a:rPr lang="en-US" dirty="0"/>
              <a:t>Example: An online store using separate services for payments, inventory, and shipping.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56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573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Key </a:t>
            </a:r>
            <a:r>
              <a:rPr lang="en-US" b="1" dirty="0"/>
              <a:t>Characteristics of Service-Oriented Programming</a:t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Loose Coupling</a:t>
            </a:r>
            <a:r>
              <a:rPr lang="en-US" dirty="0"/>
              <a:t> - Services are independent.</a:t>
            </a:r>
          </a:p>
          <a:p>
            <a:r>
              <a:rPr lang="en-US" b="1" dirty="0"/>
              <a:t>Reusability</a:t>
            </a:r>
            <a:r>
              <a:rPr lang="en-US" dirty="0"/>
              <a:t> - Services can be reused across applications.</a:t>
            </a:r>
          </a:p>
          <a:p>
            <a:r>
              <a:rPr lang="en-US" b="1" dirty="0"/>
              <a:t>Interoperability</a:t>
            </a:r>
            <a:r>
              <a:rPr lang="en-US" dirty="0"/>
              <a:t> - Services can communicate despite platform/language differences.</a:t>
            </a:r>
          </a:p>
          <a:p>
            <a:r>
              <a:rPr lang="en-US" b="1" dirty="0"/>
              <a:t>Scalability</a:t>
            </a:r>
            <a:r>
              <a:rPr lang="en-US" dirty="0"/>
              <a:t> - Supports distributed and large-scale applications.</a:t>
            </a:r>
          </a:p>
          <a:p>
            <a:r>
              <a:rPr lang="en-US" b="1" dirty="0"/>
              <a:t>Standardized Communication</a:t>
            </a:r>
            <a:r>
              <a:rPr lang="en-US" dirty="0"/>
              <a:t> - Uses standardized protocols like HTTP, XML, and JSON.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65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What are Web Services?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services allow communication between different applications over the internet.</a:t>
            </a:r>
          </a:p>
          <a:p>
            <a:r>
              <a:rPr lang="en-US" b="1" dirty="0"/>
              <a:t>Definition:</a:t>
            </a:r>
            <a:r>
              <a:rPr lang="en-US" dirty="0"/>
              <a:t> A standardized way to integrate web-based applications.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dirty="0"/>
              <a:t>Uses HTTP/HTTPS for communication.</a:t>
            </a:r>
          </a:p>
          <a:p>
            <a:pPr lvl="1"/>
            <a:r>
              <a:rPr lang="en-US" dirty="0"/>
              <a:t>Supports multiple data formats like XML and JSON.</a:t>
            </a:r>
          </a:p>
          <a:p>
            <a:pPr lvl="1"/>
            <a:r>
              <a:rPr lang="en-US" dirty="0"/>
              <a:t>Accessible over a network (Internet or Intranet).</a:t>
            </a:r>
          </a:p>
          <a:p>
            <a:pPr lvl="1"/>
            <a:r>
              <a:rPr lang="en-US" dirty="0"/>
              <a:t>Can be published and discovered dynamically.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60266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251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Components </a:t>
            </a:r>
            <a:r>
              <a:rPr lang="en-US" b="1" dirty="0"/>
              <a:t>of a Web Service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Service Provider</a:t>
            </a:r>
            <a:r>
              <a:rPr lang="en-US" dirty="0"/>
              <a:t> - The entity that creates and hosts the web service.</a:t>
            </a:r>
          </a:p>
          <a:p>
            <a:r>
              <a:rPr lang="en-US" b="1" dirty="0"/>
              <a:t>Service Consumer</a:t>
            </a:r>
            <a:r>
              <a:rPr lang="en-US" dirty="0"/>
              <a:t> - The application or client that consumes the web service.</a:t>
            </a:r>
          </a:p>
          <a:p>
            <a:r>
              <a:rPr lang="en-US" b="1" dirty="0"/>
              <a:t>Service Registry</a:t>
            </a:r>
            <a:r>
              <a:rPr lang="en-US" dirty="0"/>
              <a:t> - A directory where services can be published and discovered (e.g., UDDI - Universal Description, Discovery, and Integration).</a:t>
            </a:r>
          </a:p>
          <a:p>
            <a:r>
              <a:rPr lang="en-US" b="1" dirty="0"/>
              <a:t>Service Contract</a:t>
            </a:r>
            <a:r>
              <a:rPr lang="en-US" dirty="0"/>
              <a:t> - A standardized agreement that defines how the service can be used, including input/output formats, operations, and endpoints (e.g., WSDL for SOAP services, </a:t>
            </a:r>
            <a:r>
              <a:rPr lang="en-US" dirty="0" err="1"/>
              <a:t>OpenAPI</a:t>
            </a:r>
            <a:r>
              <a:rPr lang="en-US" dirty="0"/>
              <a:t> for REST services).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16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Types </a:t>
            </a:r>
            <a:r>
              <a:rPr lang="en-US" b="1" dirty="0"/>
              <a:t>of Web Services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SOAP (Simple Object Access Protocol)</a:t>
            </a:r>
            <a:r>
              <a:rPr lang="en-US" dirty="0"/>
              <a:t> - Uses XML-based messaging.</a:t>
            </a:r>
          </a:p>
          <a:p>
            <a:r>
              <a:rPr lang="en-US" b="1" dirty="0"/>
              <a:t>REST (Representational State Transfer)</a:t>
            </a:r>
            <a:r>
              <a:rPr lang="en-US" dirty="0"/>
              <a:t> - Uses HTTP methods (GET, POST, PUT, DELETE).</a:t>
            </a:r>
          </a:p>
          <a:p>
            <a:r>
              <a:rPr lang="en-US" b="1" dirty="0" err="1"/>
              <a:t>GraphQL</a:t>
            </a:r>
            <a:r>
              <a:rPr lang="en-US" dirty="0"/>
              <a:t> - A query language for APIs.</a:t>
            </a:r>
          </a:p>
          <a:p>
            <a:r>
              <a:rPr lang="en-US" b="1" dirty="0" err="1"/>
              <a:t>gRPC</a:t>
            </a:r>
            <a:r>
              <a:rPr lang="en-US" dirty="0"/>
              <a:t> - A high-performance RPC framework.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56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SOAP </a:t>
            </a:r>
            <a:r>
              <a:rPr lang="en-US" b="1" dirty="0"/>
              <a:t>Web Services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/>
              <a:t>SOAP (Simple Object Access Protocol):</a:t>
            </a:r>
            <a:r>
              <a:rPr lang="en-US" dirty="0"/>
              <a:t> A protocol for exchanging structured information in web services using XML. It ensures secure and standardized communication between different systems over HTTP, SMTP, etc.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Protocol-based </a:t>
            </a:r>
            <a:r>
              <a:rPr lang="en-US" dirty="0"/>
              <a:t>web service.</a:t>
            </a:r>
          </a:p>
          <a:p>
            <a:pPr algn="just"/>
            <a:r>
              <a:rPr lang="en-US" dirty="0"/>
              <a:t>Uses XML for message formatting.</a:t>
            </a:r>
          </a:p>
          <a:p>
            <a:pPr algn="just"/>
            <a:r>
              <a:rPr lang="en-US" dirty="0"/>
              <a:t>Operates over multiple transport protocols (HTTP, SMTP, TCP, etc.).</a:t>
            </a:r>
          </a:p>
          <a:p>
            <a:pPr algn="just"/>
            <a:r>
              <a:rPr lang="en-US" dirty="0"/>
              <a:t>Provides built-in security features.</a:t>
            </a:r>
          </a:p>
          <a:p>
            <a:pPr algn="just"/>
            <a:r>
              <a:rPr lang="en-US" dirty="0"/>
              <a:t>Example: Bank transactions and enterprise applications.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87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RESTful </a:t>
            </a:r>
            <a:r>
              <a:rPr lang="en-US" b="1" dirty="0"/>
              <a:t>Web Services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261" y="1457980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RESTful</a:t>
            </a:r>
            <a:r>
              <a:rPr lang="en-US" dirty="0"/>
              <a:t> refers to web services that follow the </a:t>
            </a:r>
            <a:r>
              <a:rPr lang="en-US" b="1" dirty="0"/>
              <a:t>REST (Representational State Transfer)</a:t>
            </a:r>
            <a:r>
              <a:rPr lang="en-US" dirty="0"/>
              <a:t> architectural style. </a:t>
            </a:r>
            <a:endParaRPr lang="en-US" dirty="0" smtClean="0"/>
          </a:p>
          <a:p>
            <a:pPr algn="just"/>
            <a:r>
              <a:rPr lang="en-US" dirty="0" smtClean="0"/>
              <a:t>RESTful </a:t>
            </a:r>
            <a:r>
              <a:rPr lang="en-US" dirty="0"/>
              <a:t>services use </a:t>
            </a:r>
            <a:r>
              <a:rPr lang="en-US" b="1" dirty="0"/>
              <a:t>HTTP methods</a:t>
            </a:r>
            <a:r>
              <a:rPr lang="en-US" dirty="0"/>
              <a:t> (GET, POST, PUT, DELETE) to perform operations on resources, typically returning data in </a:t>
            </a:r>
            <a:r>
              <a:rPr lang="en-US" b="1" dirty="0"/>
              <a:t>JSON or XML</a:t>
            </a:r>
            <a:r>
              <a:rPr lang="en-US" dirty="0"/>
              <a:t> format. They are </a:t>
            </a:r>
            <a:r>
              <a:rPr lang="en-US" b="1" dirty="0"/>
              <a:t>lightweight, scalable, and stateless</a:t>
            </a:r>
            <a:r>
              <a:rPr lang="en-US" dirty="0"/>
              <a:t>, making them widely used in modern web applications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 smtClean="0"/>
              <a:t>Architectural </a:t>
            </a:r>
            <a:r>
              <a:rPr lang="en-US" dirty="0"/>
              <a:t>style rather than a protocol.</a:t>
            </a:r>
          </a:p>
          <a:p>
            <a:pPr algn="just"/>
            <a:r>
              <a:rPr lang="en-US" dirty="0"/>
              <a:t>Uses HTTP methods to perform operations.</a:t>
            </a:r>
          </a:p>
          <a:p>
            <a:pPr algn="just"/>
            <a:r>
              <a:rPr lang="en-US" dirty="0" smtClean="0"/>
              <a:t>Lightweight </a:t>
            </a:r>
            <a:r>
              <a:rPr lang="en-US" dirty="0"/>
              <a:t>and faster compared to SOAP.</a:t>
            </a:r>
          </a:p>
          <a:p>
            <a:pPr algn="just"/>
            <a:r>
              <a:rPr lang="en-US" dirty="0"/>
              <a:t>Example: Social media APIs like Facebook, Twitter, and Google.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52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SOAP </a:t>
            </a:r>
            <a:r>
              <a:rPr lang="en-US" b="1" dirty="0"/>
              <a:t>vs. REST - A Comparison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5996287"/>
              </p:ext>
            </p:extLst>
          </p:nvPr>
        </p:nvGraphicFramePr>
        <p:xfrm>
          <a:off x="1054509" y="1533727"/>
          <a:ext cx="7772400" cy="48371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471444549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74083255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873174520"/>
                    </a:ext>
                  </a:extLst>
                </a:gridCol>
              </a:tblGrid>
              <a:tr h="59206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Feature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REST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SOAP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892899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r>
                        <a:rPr lang="en-US" sz="2400"/>
                        <a:t>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HTTP, SMTP,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880343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r>
                        <a:rPr lang="en-US" sz="2400" dirty="0"/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JSON/XML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XML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304805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r>
                        <a:rPr lang="en-US" sz="2400" dirty="0"/>
                        <a:t>Simplicity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543654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r>
                        <a:rPr lang="en-US" sz="2400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Slower due to overhead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996229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r>
                        <a:rPr lang="en-US" sz="240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Uses HTTPS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More robust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9503149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r>
                        <a:rPr lang="en-US" sz="240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Web and mobile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Enterprise-level transactions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34104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38200" y="2736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429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Introduction </a:t>
            </a:r>
            <a:r>
              <a:rPr lang="en-US" b="1" dirty="0"/>
              <a:t>to Service-Oriented Architecture (SOA)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SOP (Service-Oriented Programming):</a:t>
            </a:r>
            <a:r>
              <a:rPr lang="en-US" dirty="0"/>
              <a:t> A programming approach where applications are built using reusable and independent services that communicate with each other over a network</a:t>
            </a:r>
            <a:r>
              <a:rPr lang="en-US" dirty="0" smtClean="0"/>
              <a:t>.</a:t>
            </a:r>
            <a:endParaRPr lang="en-US" b="1" dirty="0"/>
          </a:p>
          <a:p>
            <a:pPr algn="just"/>
            <a:r>
              <a:rPr lang="en-US" dirty="0" smtClean="0"/>
              <a:t>Services </a:t>
            </a:r>
            <a:r>
              <a:rPr lang="en-US" dirty="0"/>
              <a:t>are loosely coupled, reusable, and independent.</a:t>
            </a:r>
          </a:p>
          <a:p>
            <a:pPr algn="just"/>
            <a:r>
              <a:rPr lang="en-US" b="1" dirty="0"/>
              <a:t>Example:</a:t>
            </a:r>
            <a:r>
              <a:rPr lang="en-US" dirty="0"/>
              <a:t> An e-commerce platform using separate services for payment, order processing, and inventory management.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D2CF-D439-A55F-3CA1-96A73768201B}"/>
              </a:ext>
            </a:extLst>
          </p:cNvPr>
          <p:cNvSpPr txBox="1"/>
          <p:nvPr/>
        </p:nvSpPr>
        <p:spPr>
          <a:xfrm>
            <a:off x="669235" y="6498370"/>
            <a:ext cx="252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Mrs. W.M.M.U.L </a:t>
            </a:r>
            <a:r>
              <a:rPr lang="en-US" sz="1400" dirty="0" err="1" smtClean="0">
                <a:solidFill>
                  <a:schemeClr val="bg1"/>
                </a:solidFill>
              </a:rPr>
              <a:t>Karunadasa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08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Benefits </a:t>
            </a:r>
            <a:r>
              <a:rPr lang="en-US" b="1" dirty="0"/>
              <a:t>of SOA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Reusability</a:t>
            </a:r>
            <a:r>
              <a:rPr lang="en-US" dirty="0"/>
              <a:t> - Services can be reused in different applications.</a:t>
            </a:r>
          </a:p>
          <a:p>
            <a:r>
              <a:rPr lang="en-US" b="1" dirty="0"/>
              <a:t>Interoperability</a:t>
            </a:r>
            <a:r>
              <a:rPr lang="en-US" dirty="0"/>
              <a:t> - Works across different technologies.</a:t>
            </a:r>
          </a:p>
          <a:p>
            <a:r>
              <a:rPr lang="en-US" b="1" dirty="0"/>
              <a:t>Scalability</a:t>
            </a:r>
            <a:r>
              <a:rPr lang="en-US" dirty="0"/>
              <a:t> - Can handle growing user demands.</a:t>
            </a:r>
          </a:p>
          <a:p>
            <a:r>
              <a:rPr lang="en-US" b="1" dirty="0"/>
              <a:t>Maintainability</a:t>
            </a:r>
            <a:r>
              <a:rPr lang="en-US" dirty="0"/>
              <a:t> - Easier to update and manage.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623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Key </a:t>
            </a:r>
            <a:r>
              <a:rPr lang="en-US" b="1" dirty="0"/>
              <a:t>Technologies Behind Web Services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XML (Extensible Markup Language)</a:t>
            </a:r>
            <a:r>
              <a:rPr lang="en-US" dirty="0"/>
              <a:t> - Data format for SOAP.</a:t>
            </a:r>
          </a:p>
          <a:p>
            <a:r>
              <a:rPr lang="en-US" b="1" dirty="0"/>
              <a:t>JSON (JavaScript Object Notation)</a:t>
            </a:r>
            <a:r>
              <a:rPr lang="en-US" dirty="0"/>
              <a:t> - Lightweight data format for REST.</a:t>
            </a:r>
          </a:p>
          <a:p>
            <a:r>
              <a:rPr lang="en-US" b="1" dirty="0"/>
              <a:t>WSDL (Web Services Description Language)</a:t>
            </a:r>
            <a:r>
              <a:rPr lang="en-US" dirty="0"/>
              <a:t> - Describes web services.</a:t>
            </a:r>
          </a:p>
          <a:p>
            <a:r>
              <a:rPr lang="en-US" b="1" dirty="0"/>
              <a:t>UDDI (Universal Description, Discovery, and Integration)</a:t>
            </a:r>
            <a:r>
              <a:rPr lang="en-US" dirty="0"/>
              <a:t> - Service directory.</a:t>
            </a:r>
          </a:p>
          <a:p>
            <a:r>
              <a:rPr lang="en-US" b="1" dirty="0"/>
              <a:t>HTTP/HTTPS</a:t>
            </a:r>
            <a:r>
              <a:rPr lang="en-US" dirty="0"/>
              <a:t> - Communication protocols.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017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7417" y="218685"/>
            <a:ext cx="8669483" cy="60362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121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Real-World </a:t>
            </a:r>
            <a:r>
              <a:rPr lang="en-US" b="1" dirty="0"/>
              <a:t>Applications of Web Services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E-Commerce:</a:t>
            </a:r>
            <a:r>
              <a:rPr lang="en-US" dirty="0"/>
              <a:t> Payment gateways (PayPal API, Stripe API).</a:t>
            </a:r>
          </a:p>
          <a:p>
            <a:r>
              <a:rPr lang="en-US" b="1" dirty="0"/>
              <a:t>Social Media:</a:t>
            </a:r>
            <a:r>
              <a:rPr lang="en-US" dirty="0"/>
              <a:t> Facebook Graph API, Twitter API.</a:t>
            </a:r>
          </a:p>
          <a:p>
            <a:r>
              <a:rPr lang="en-US" b="1" dirty="0"/>
              <a:t>Weather Forecasting:</a:t>
            </a:r>
            <a:r>
              <a:rPr lang="en-US" dirty="0"/>
              <a:t> </a:t>
            </a:r>
            <a:r>
              <a:rPr lang="en-US" dirty="0" err="1"/>
              <a:t>OpenWeatherMap</a:t>
            </a:r>
            <a:r>
              <a:rPr lang="en-US" dirty="0"/>
              <a:t> API.</a:t>
            </a:r>
          </a:p>
          <a:p>
            <a:r>
              <a:rPr lang="en-US" b="1" dirty="0"/>
              <a:t>Cloud Services:</a:t>
            </a:r>
            <a:r>
              <a:rPr lang="en-US" dirty="0"/>
              <a:t> AWS, Google Cloud APIs.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94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API Communication </a:t>
            </a:r>
            <a:r>
              <a:rPr lang="en-US" b="1" dirty="0" smtClean="0"/>
              <a:t>Examples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Scenario:</a:t>
            </a:r>
            <a:r>
              <a:rPr lang="en-US" dirty="0"/>
              <a:t> Mobile app requests weather data from a web service.</a:t>
            </a:r>
          </a:p>
          <a:p>
            <a:r>
              <a:rPr lang="en-US" b="1" dirty="0"/>
              <a:t>Steps:</a:t>
            </a:r>
            <a:endParaRPr lang="en-US" dirty="0"/>
          </a:p>
          <a:p>
            <a:pPr lvl="1"/>
            <a:r>
              <a:rPr lang="en-US" dirty="0"/>
              <a:t>User requests weather data.</a:t>
            </a:r>
          </a:p>
          <a:p>
            <a:pPr lvl="1"/>
            <a:r>
              <a:rPr lang="en-US" dirty="0"/>
              <a:t>Web service processes the request.</a:t>
            </a:r>
          </a:p>
          <a:p>
            <a:pPr lvl="1"/>
            <a:r>
              <a:rPr lang="en-US" dirty="0"/>
              <a:t>Web service responds with JSON/XML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02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Security </a:t>
            </a:r>
            <a:r>
              <a:rPr lang="en-US" b="1" dirty="0"/>
              <a:t>in Web Services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Authentication:</a:t>
            </a:r>
            <a:r>
              <a:rPr lang="en-US" dirty="0"/>
              <a:t> OAuth, API keys.</a:t>
            </a:r>
          </a:p>
          <a:p>
            <a:r>
              <a:rPr lang="en-US" b="1" dirty="0"/>
              <a:t>Encryption:</a:t>
            </a:r>
            <a:r>
              <a:rPr lang="en-US" dirty="0"/>
              <a:t> HTTPS, SSL/TLS.</a:t>
            </a:r>
          </a:p>
          <a:p>
            <a:r>
              <a:rPr lang="en-US" b="1" dirty="0"/>
              <a:t>Data Validation:</a:t>
            </a:r>
            <a:r>
              <a:rPr lang="en-US" dirty="0"/>
              <a:t> Prevent SQL injection, XSS attacks.</a:t>
            </a:r>
          </a:p>
          <a:p>
            <a:r>
              <a:rPr lang="en-US" b="1" dirty="0"/>
              <a:t>Rate Limiting:</a:t>
            </a:r>
            <a:r>
              <a:rPr lang="en-US" dirty="0"/>
              <a:t> Prevent API abuse.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89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Performance </a:t>
            </a:r>
            <a:r>
              <a:rPr lang="en-US" b="1" dirty="0"/>
              <a:t>Optimization for Web Services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Caching:</a:t>
            </a:r>
            <a:r>
              <a:rPr lang="en-US" dirty="0"/>
              <a:t> Store frequent responses.</a:t>
            </a:r>
          </a:p>
          <a:p>
            <a:r>
              <a:rPr lang="en-US" b="1" dirty="0"/>
              <a:t>Load Balancing:</a:t>
            </a:r>
            <a:r>
              <a:rPr lang="en-US" dirty="0"/>
              <a:t> Distribute traffic.</a:t>
            </a:r>
          </a:p>
          <a:p>
            <a:r>
              <a:rPr lang="en-US" b="1" dirty="0"/>
              <a:t>Compression:</a:t>
            </a:r>
            <a:r>
              <a:rPr lang="en-US" dirty="0"/>
              <a:t> Use </a:t>
            </a:r>
            <a:r>
              <a:rPr lang="en-US" dirty="0" err="1"/>
              <a:t>Gzip</a:t>
            </a:r>
            <a:r>
              <a:rPr lang="en-US" dirty="0"/>
              <a:t> for data transfer.</a:t>
            </a:r>
          </a:p>
          <a:p>
            <a:r>
              <a:rPr lang="en-US" b="1" dirty="0"/>
              <a:t>Database Optimization:</a:t>
            </a:r>
            <a:r>
              <a:rPr lang="en-US" dirty="0"/>
              <a:t> Indexing and query tuning.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5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>Challenges in Implementing Web Services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Security Risks</a:t>
            </a:r>
            <a:r>
              <a:rPr lang="en-US" dirty="0"/>
              <a:t>: Data breaches, unauthorized access.</a:t>
            </a:r>
          </a:p>
          <a:p>
            <a:r>
              <a:rPr lang="en-US" b="1" dirty="0"/>
              <a:t>Performance Issues</a:t>
            </a:r>
            <a:r>
              <a:rPr lang="en-US" dirty="0"/>
              <a:t>: Slow response times due to network delays.</a:t>
            </a:r>
          </a:p>
          <a:p>
            <a:r>
              <a:rPr lang="en-US" b="1" dirty="0"/>
              <a:t>Compatibility</a:t>
            </a:r>
            <a:r>
              <a:rPr lang="en-US" dirty="0"/>
              <a:t>: Different platforms and protocols.</a:t>
            </a:r>
          </a:p>
          <a:p>
            <a:r>
              <a:rPr lang="en-US" b="1" dirty="0"/>
              <a:t>Scalability</a:t>
            </a:r>
            <a:r>
              <a:rPr lang="en-US" dirty="0"/>
              <a:t>: Handling increased user requests.</a:t>
            </a:r>
          </a:p>
          <a:p>
            <a:r>
              <a:rPr lang="en-US" b="1" dirty="0"/>
              <a:t>Maintenance</a:t>
            </a:r>
            <a:r>
              <a:rPr lang="en-US" dirty="0"/>
              <a:t>: Keeping services updated and bug-free.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139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>Case Study - Web Services in E-Commerce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Amazon API</a:t>
            </a:r>
            <a:r>
              <a:rPr lang="en-US" dirty="0"/>
              <a:t>: Uses RESTful services to manage inventory and orders.</a:t>
            </a:r>
          </a:p>
          <a:p>
            <a:r>
              <a:rPr lang="en-US" dirty="0"/>
              <a:t>Supports multiple payment gateways.</a:t>
            </a:r>
          </a:p>
          <a:p>
            <a:r>
              <a:rPr lang="en-US" dirty="0"/>
              <a:t>Scalable architecture for high-traffic demand.</a:t>
            </a:r>
          </a:p>
          <a:p>
            <a:r>
              <a:rPr lang="en-US" b="1" dirty="0"/>
              <a:t>Lessons Learned</a:t>
            </a:r>
            <a:r>
              <a:rPr lang="en-US" dirty="0"/>
              <a:t>: Efficient use of caching.</a:t>
            </a:r>
          </a:p>
          <a:p>
            <a:r>
              <a:rPr lang="en-US" dirty="0"/>
              <a:t>Security best practices.</a:t>
            </a:r>
          </a:p>
          <a:p>
            <a:r>
              <a:rPr lang="en-US" dirty="0"/>
              <a:t>Optimized API response times.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473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>Future Trends in Web Services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AI-Driven APIs</a:t>
            </a:r>
            <a:r>
              <a:rPr lang="en-US" dirty="0"/>
              <a:t>: Machine learning-based recommendations.</a:t>
            </a:r>
          </a:p>
          <a:p>
            <a:r>
              <a:rPr lang="en-US" b="1" dirty="0" err="1"/>
              <a:t>Serverless</a:t>
            </a:r>
            <a:r>
              <a:rPr lang="en-US" b="1" dirty="0"/>
              <a:t> Architecture</a:t>
            </a:r>
            <a:r>
              <a:rPr lang="en-US" dirty="0"/>
              <a:t>: AWS Lambda, Azure Functions.</a:t>
            </a:r>
          </a:p>
          <a:p>
            <a:r>
              <a:rPr lang="en-US" b="1" dirty="0" err="1"/>
              <a:t>Microservices</a:t>
            </a:r>
            <a:r>
              <a:rPr lang="en-US" b="1" dirty="0"/>
              <a:t> Adoption</a:t>
            </a:r>
            <a:r>
              <a:rPr lang="en-US" dirty="0"/>
              <a:t>: Breaking monolithic applications into services.</a:t>
            </a:r>
          </a:p>
          <a:p>
            <a:r>
              <a:rPr lang="en-US" b="1" dirty="0" err="1"/>
              <a:t>Blockchain</a:t>
            </a:r>
            <a:r>
              <a:rPr lang="en-US" b="1" dirty="0"/>
              <a:t> Integration</a:t>
            </a:r>
            <a:r>
              <a:rPr lang="en-US" dirty="0"/>
              <a:t>: Secure and transparent transactions.</a:t>
            </a:r>
          </a:p>
          <a:p>
            <a:r>
              <a:rPr lang="en-US" b="1" dirty="0"/>
              <a:t>5G and Edge Computing</a:t>
            </a:r>
            <a:r>
              <a:rPr lang="en-US" dirty="0"/>
              <a:t>: Faster and more efficient web services.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166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>Best Practices for Web Service Development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 Versioning</a:t>
            </a:r>
            <a:r>
              <a:rPr lang="en-US" dirty="0"/>
              <a:t>: Ensure backward compatibility.</a:t>
            </a:r>
          </a:p>
          <a:p>
            <a:r>
              <a:rPr lang="en-US" b="1" dirty="0"/>
              <a:t>Implement Error Handling</a:t>
            </a:r>
            <a:r>
              <a:rPr lang="en-US" dirty="0"/>
              <a:t>: Standardized error messages.</a:t>
            </a:r>
          </a:p>
          <a:p>
            <a:r>
              <a:rPr lang="en-US" b="1" dirty="0"/>
              <a:t>Optimize Data Transfer</a:t>
            </a:r>
            <a:r>
              <a:rPr lang="en-US" dirty="0"/>
              <a:t>: Reduce payload size.</a:t>
            </a:r>
          </a:p>
          <a:p>
            <a:r>
              <a:rPr lang="en-US" b="1" dirty="0"/>
              <a:t>Ensure Security</a:t>
            </a:r>
            <a:r>
              <a:rPr lang="en-US" dirty="0"/>
              <a:t>: Use OAuth, JWT, and HTTPS.</a:t>
            </a:r>
          </a:p>
          <a:p>
            <a:r>
              <a:rPr lang="en-US" b="1" dirty="0"/>
              <a:t>Monitor and Log Requests</a:t>
            </a:r>
            <a:r>
              <a:rPr lang="en-US" dirty="0"/>
              <a:t>: Track API usage and detect issues.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99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>Hands-On Exercise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Task:</a:t>
            </a:r>
            <a:r>
              <a:rPr lang="en-US" dirty="0"/>
              <a:t> Create a simple RESTful web service using a public API.</a:t>
            </a:r>
          </a:p>
          <a:p>
            <a:r>
              <a:rPr lang="en-US" b="1" dirty="0"/>
              <a:t>Steps: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Choose an API (e.g., </a:t>
            </a:r>
            <a:r>
              <a:rPr lang="en-US" dirty="0" err="1"/>
              <a:t>OpenWeather</a:t>
            </a:r>
            <a:r>
              <a:rPr lang="en-US" dirty="0"/>
              <a:t>, GitHub, </a:t>
            </a:r>
            <a:r>
              <a:rPr lang="en-US" dirty="0" err="1"/>
              <a:t>JSONPlaceholder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Send a GET request using Postman.</a:t>
            </a:r>
          </a:p>
          <a:p>
            <a:pPr lvl="1"/>
            <a:r>
              <a:rPr lang="en-US" dirty="0"/>
              <a:t>Parse the JSON response.</a:t>
            </a:r>
          </a:p>
          <a:p>
            <a:pPr lvl="1"/>
            <a:r>
              <a:rPr lang="en-US" dirty="0"/>
              <a:t>Display the results in a simple application.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274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5F-EED1-B797-062F-8BDB0F00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>Summary of the Lecture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A7F-486F-53C0-498F-BE1DDB6A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Service-Oriented Programming</a:t>
            </a:r>
            <a:r>
              <a:rPr lang="en-US" dirty="0"/>
              <a:t> enables modular and reusable service components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Web Services</a:t>
            </a:r>
            <a:r>
              <a:rPr lang="en-US" dirty="0"/>
              <a:t> facilitate communication between applications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SOAP vs. REST</a:t>
            </a:r>
            <a:r>
              <a:rPr lang="en-US" dirty="0"/>
              <a:t>: REST is lightweight and widely used; SOAP is secure and reliable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SOA</a:t>
            </a:r>
            <a:r>
              <a:rPr lang="en-US" dirty="0"/>
              <a:t> ensures scalable and maintainable service-based </a:t>
            </a:r>
            <a:r>
              <a:rPr lang="en-US" dirty="0" smtClean="0"/>
              <a:t>applications</a:t>
            </a:r>
          </a:p>
          <a:p>
            <a:pPr marL="0" indent="0">
              <a:buNone/>
            </a:pPr>
            <a:r>
              <a:rPr lang="en-US" b="1" dirty="0"/>
              <a:t>Security &amp; Performance</a:t>
            </a:r>
            <a:r>
              <a:rPr lang="en-US" dirty="0"/>
              <a:t> are key concerns in service development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Future Trends</a:t>
            </a:r>
            <a:r>
              <a:rPr lang="en-US" dirty="0"/>
              <a:t>: AI, </a:t>
            </a:r>
            <a:r>
              <a:rPr lang="en-US" dirty="0" err="1"/>
              <a:t>microservices</a:t>
            </a:r>
            <a:r>
              <a:rPr lang="en-US" dirty="0"/>
              <a:t>, </a:t>
            </a:r>
            <a:r>
              <a:rPr lang="en-US" dirty="0" err="1"/>
              <a:t>blockchain</a:t>
            </a:r>
            <a:r>
              <a:rPr lang="en-US" dirty="0"/>
              <a:t>, and </a:t>
            </a:r>
            <a:r>
              <a:rPr lang="en-US" dirty="0" err="1"/>
              <a:t>serverless</a:t>
            </a:r>
            <a:r>
              <a:rPr lang="en-US" dirty="0"/>
              <a:t> computing.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9DE22-BF5B-288D-0808-3E8810DFA4C6}"/>
              </a:ext>
            </a:extLst>
          </p:cNvPr>
          <p:cNvSpPr/>
          <p:nvPr/>
        </p:nvSpPr>
        <p:spPr>
          <a:xfrm>
            <a:off x="0" y="6440556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E9063-9C49-024C-5ABC-07E130E71BB0}"/>
              </a:ext>
            </a:extLst>
          </p:cNvPr>
          <p:cNvSpPr/>
          <p:nvPr/>
        </p:nvSpPr>
        <p:spPr>
          <a:xfrm flipV="1">
            <a:off x="0" y="6331985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78C9F-F847-D0E5-1F91-48BD8432D62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8779-1C8C-24D2-A8B1-BEA97E7E4F5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A04083-24A1-F4DA-0C36-D3F0082A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768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- PNG image with transparent background | Free Png Images">
            <a:extLst>
              <a:ext uri="{FF2B5EF4-FFF2-40B4-BE49-F238E27FC236}">
                <a16:creationId xmlns:a16="http://schemas.microsoft.com/office/drawing/2014/main" id="{DAA85700-9400-7878-FDC0-B31A0D121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930" y="4466221"/>
            <a:ext cx="4376530" cy="144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BCA928-1183-BC38-E272-CE2D10DE6CB9}"/>
              </a:ext>
            </a:extLst>
          </p:cNvPr>
          <p:cNvSpPr txBox="1"/>
          <p:nvPr/>
        </p:nvSpPr>
        <p:spPr>
          <a:xfrm>
            <a:off x="669235" y="6498370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92006-77B5-68CC-7726-F83B3B23D441}"/>
              </a:ext>
            </a:extLst>
          </p:cNvPr>
          <p:cNvSpPr txBox="1"/>
          <p:nvPr/>
        </p:nvSpPr>
        <p:spPr>
          <a:xfrm>
            <a:off x="5526156" y="6479154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124AD8-B782-5CA4-65B4-9324EB2A818D}"/>
              </a:ext>
            </a:extLst>
          </p:cNvPr>
          <p:cNvSpPr/>
          <p:nvPr/>
        </p:nvSpPr>
        <p:spPr>
          <a:xfrm>
            <a:off x="0" y="6471865"/>
            <a:ext cx="12192000" cy="430694"/>
          </a:xfrm>
          <a:prstGeom prst="rect">
            <a:avLst/>
          </a:prstGeom>
          <a:solidFill>
            <a:srgbClr val="024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FF1C3F-1B44-95D4-AC8F-D03AC96D791E}"/>
              </a:ext>
            </a:extLst>
          </p:cNvPr>
          <p:cNvSpPr/>
          <p:nvPr/>
        </p:nvSpPr>
        <p:spPr>
          <a:xfrm flipV="1">
            <a:off x="0" y="6363294"/>
            <a:ext cx="12192000" cy="115860"/>
          </a:xfrm>
          <a:prstGeom prst="rect">
            <a:avLst/>
          </a:prstGeom>
          <a:solidFill>
            <a:srgbClr val="00A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D388D-850E-380D-0306-7EE9FCF074B9}"/>
              </a:ext>
            </a:extLst>
          </p:cNvPr>
          <p:cNvSpPr txBox="1"/>
          <p:nvPr/>
        </p:nvSpPr>
        <p:spPr>
          <a:xfrm>
            <a:off x="669235" y="6529679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Lecturer Name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4D4A5-23AB-C72F-1E8A-E0B4E00E8C93}"/>
              </a:ext>
            </a:extLst>
          </p:cNvPr>
          <p:cNvSpPr txBox="1"/>
          <p:nvPr/>
        </p:nvSpPr>
        <p:spPr>
          <a:xfrm>
            <a:off x="5526156" y="6510463"/>
            <a:ext cx="1808922" cy="31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Saegis Campus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DF8C9C-3E45-AB56-7129-CF3DF177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EBBF-3571-4FE6-8853-E83B5A3F4929}" type="slidenum">
              <a:rPr lang="en-US" smtClean="0">
                <a:solidFill>
                  <a:schemeClr val="bg1"/>
                </a:solidFill>
              </a:r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66507" y="1027522"/>
            <a:ext cx="8568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408696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e code" id="{D1ED978E-FF71-43C1-B3D2-7E5DF6C4C506}" vid="{2E023801-1AC4-4882-B2CF-CD064BB4E0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 code</Template>
  <TotalTime>70</TotalTime>
  <Words>1246</Words>
  <Application>Microsoft Office PowerPoint</Application>
  <PresentationFormat>Widescreen</PresentationFormat>
  <Paragraphs>233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Service Oriented Web Applications (CS_SE_IT 2210) Lesson 1 18 – March - 25</vt:lpstr>
      <vt:lpstr> Introduction to Service-Oriented Programming and Web Services </vt:lpstr>
      <vt:lpstr> Introduction to Service-Oriented Programming  </vt:lpstr>
      <vt:lpstr>   Key Characteristics of Service-Oriented Programming   </vt:lpstr>
      <vt:lpstr>   What are Web Services?    </vt:lpstr>
      <vt:lpstr>     Components of a Web Service     </vt:lpstr>
      <vt:lpstr>     Types of Web Services      </vt:lpstr>
      <vt:lpstr>      SOAP Web Services       </vt:lpstr>
      <vt:lpstr>       RESTful Web Services        </vt:lpstr>
      <vt:lpstr>       SOAP vs. REST - A Comparison        </vt:lpstr>
      <vt:lpstr>       Introduction to Service-Oriented Architecture (SOA)        </vt:lpstr>
      <vt:lpstr>       Benefits of SOA        </vt:lpstr>
      <vt:lpstr>       Key Technologies Behind Web Services        </vt:lpstr>
      <vt:lpstr>PowerPoint Presentation</vt:lpstr>
      <vt:lpstr>       Real-World Applications of Web Services        </vt:lpstr>
      <vt:lpstr>      API Communication Examples       </vt:lpstr>
      <vt:lpstr>       Security in Web Services        </vt:lpstr>
      <vt:lpstr>        Performance Optimization for Web Services         </vt:lpstr>
      <vt:lpstr>       Challenges in Implementing Web Services        </vt:lpstr>
      <vt:lpstr>       Case Study - Web Services in E-Commerce        </vt:lpstr>
      <vt:lpstr>       Future Trends in Web Services        </vt:lpstr>
      <vt:lpstr>       Best Practices for Web Service Development        </vt:lpstr>
      <vt:lpstr>       Hands-On Exercise        </vt:lpstr>
      <vt:lpstr>       Summary of the Lecture   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code Lecture 01 Topic Date</dc:title>
  <dc:creator>Chathurangi Weerasinghe</dc:creator>
  <cp:lastModifiedBy>HP Elitebook</cp:lastModifiedBy>
  <cp:revision>19</cp:revision>
  <dcterms:created xsi:type="dcterms:W3CDTF">2022-09-25T08:57:29Z</dcterms:created>
  <dcterms:modified xsi:type="dcterms:W3CDTF">2025-03-17T22:54:38Z</dcterms:modified>
</cp:coreProperties>
</file>